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8"/>
  </p:notesMasterIdLst>
  <p:sldIdLst>
    <p:sldId id="256" r:id="rId2"/>
    <p:sldId id="259" r:id="rId3"/>
    <p:sldId id="258" r:id="rId4"/>
    <p:sldId id="273" r:id="rId5"/>
    <p:sldId id="271" r:id="rId6"/>
    <p:sldId id="260" r:id="rId7"/>
    <p:sldId id="269" r:id="rId8"/>
    <p:sldId id="276" r:id="rId9"/>
    <p:sldId id="261" r:id="rId10"/>
    <p:sldId id="262" r:id="rId11"/>
    <p:sldId id="263" r:id="rId12"/>
    <p:sldId id="274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B70171-1570-C64E-835C-FC992F7F43F5}" v="822" dt="2022-04-28T19:33:18.421"/>
    <p1510:client id="{3D7C0D5A-2AED-987B-F320-BFBA2339DB55}" v="185" dt="2022-04-28T19:40:32.713"/>
    <p1510:client id="{D49B98B2-DA48-B24D-B5AF-4644CBBEEE8F}" v="1648" dt="2022-04-28T20:08:46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2"/>
  </p:normalViewPr>
  <p:slideViewPr>
    <p:cSldViewPr snapToGrid="0" snapToObjects="1">
      <p:cViewPr varScale="1">
        <p:scale>
          <a:sx n="104" d="100"/>
          <a:sy n="104" d="100"/>
        </p:scale>
        <p:origin x="8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1C103-2B61-BD4B-A2AC-BBB52336D43A}" type="datetimeFigureOut">
              <a:rPr lang="en-US" smtClean="0"/>
              <a:t>4/28/22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E4CBC-AB99-D646-A0C6-09E150C1B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2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E4CBC-AB99-D646-A0C6-09E150C1B0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18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35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81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9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9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60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638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45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0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43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78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8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6386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65B1B-008A-45FE-109B-CD4ABD442F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Machine Learning: Handwritten Digit Recognition using Singular Value Decomposition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B1FAD0-A0D2-48BB-CCCE-EA2385C6B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Webster Gordon, Justin Nichols, </a:t>
            </a:r>
            <a:r>
              <a:rPr lang="en-US" err="1"/>
              <a:t>Mollee</a:t>
            </a:r>
            <a:r>
              <a:rPr lang="en-US"/>
              <a:t> Swift</a:t>
            </a:r>
          </a:p>
        </p:txBody>
      </p:sp>
      <p:pic>
        <p:nvPicPr>
          <p:cNvPr id="1026" name="Picture 2" descr="USPS Logo – United States Postal Service Logo - PNG and Vector - Logo  Download">
            <a:extLst>
              <a:ext uri="{FF2B5EF4-FFF2-40B4-BE49-F238E27FC236}">
                <a16:creationId xmlns:a16="http://schemas.microsoft.com/office/drawing/2014/main" id="{20A614C7-0D24-711F-369C-92D1EC30F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221" y="3624112"/>
            <a:ext cx="2766126" cy="228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amples of digits from the USPS dataset. | Download Scientific Diagram">
            <a:extLst>
              <a:ext uri="{FF2B5EF4-FFF2-40B4-BE49-F238E27FC236}">
                <a16:creationId xmlns:a16="http://schemas.microsoft.com/office/drawing/2014/main" id="{2AA7CA97-B441-60EF-EF15-EEF8DF54F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92" y="3624112"/>
            <a:ext cx="2338487" cy="233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63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95E99FA-492C-4C5E-9893-0F326B1B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7BC83-107C-DCAA-8754-4D0A6452F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D612E1E8-2475-C59E-D914-2B92E57548C5}"/>
              </a:ext>
            </a:extLst>
          </p:cNvPr>
          <p:cNvSpPr txBox="1"/>
          <p:nvPr/>
        </p:nvSpPr>
        <p:spPr>
          <a:xfrm>
            <a:off x="5155905" y="1113764"/>
            <a:ext cx="6589562" cy="46243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spcBef>
                <a:spcPct val="20000"/>
              </a:spcBef>
              <a:spcAft>
                <a:spcPts val="8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200">
                <a:latin typeface="Avenir Book" panose="02000503020000020003" pitchFamily="2" charset="0"/>
              </a:rPr>
              <a:t>We wanted to incorporate machine learning into a tangible project, so the case of recognizing handwritten digits was appealing.</a:t>
            </a:r>
          </a:p>
          <a:p>
            <a:pPr marL="285750" indent="-285750">
              <a:spcBef>
                <a:spcPct val="20000"/>
              </a:spcBef>
              <a:spcAft>
                <a:spcPts val="8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200">
                <a:latin typeface="Avenir Book" panose="02000503020000020003" pitchFamily="2" charset="0"/>
              </a:rPr>
              <a:t>Using handwritten digits from the United States Postal Service, we plan to use SVD to train our model to learn to read the digits 0-9.</a:t>
            </a:r>
          </a:p>
          <a:p>
            <a:pPr marL="285750" indent="-285750">
              <a:spcBef>
                <a:spcPct val="20000"/>
              </a:spcBef>
              <a:spcAft>
                <a:spcPts val="8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200">
                <a:latin typeface="Avenir Book" panose="02000503020000020003" pitchFamily="2" charset="0"/>
              </a:rPr>
              <a:t>Our goal is to test our model's accuracy on a new data sample containing unseen images of written digits, and we seek to maximize this accuracy.</a:t>
            </a:r>
          </a:p>
          <a:p>
            <a:pPr marL="285750" indent="-285750">
              <a:spcBef>
                <a:spcPct val="20000"/>
              </a:spcBef>
              <a:spcAft>
                <a:spcPts val="8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200">
                <a:latin typeface="Avenir Book" panose="02000503020000020003" pitchFamily="2" charset="0"/>
              </a:rPr>
              <a:t>We decided to simplify our data via Singular Value Decomposition (SVD) over Principal Component Analysis (PCA), because SVD is more efficient than PCA when working with dense data.</a:t>
            </a:r>
          </a:p>
        </p:txBody>
      </p:sp>
    </p:spTree>
    <p:extLst>
      <p:ext uri="{BB962C8B-B14F-4D97-AF65-F5344CB8AC3E}">
        <p14:creationId xmlns:p14="http://schemas.microsoft.com/office/powerpoint/2010/main" val="2673235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B610-EACB-B833-7D02-3F66A7CE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Set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A0A41D9-E709-A1CA-FFBB-A5E94BFA13AB}"/>
              </a:ext>
            </a:extLst>
          </p:cNvPr>
          <p:cNvGrpSpPr/>
          <p:nvPr/>
        </p:nvGrpSpPr>
        <p:grpSpPr>
          <a:xfrm>
            <a:off x="1061070" y="4745470"/>
            <a:ext cx="10062475" cy="1346102"/>
            <a:chOff x="1486610" y="20202581"/>
            <a:chExt cx="12912612" cy="1727378"/>
          </a:xfrm>
        </p:grpSpPr>
        <p:pic>
          <p:nvPicPr>
            <p:cNvPr id="7" name="Picture 8" descr="Text&#10;&#10;Description automatically generated">
              <a:extLst>
                <a:ext uri="{FF2B5EF4-FFF2-40B4-BE49-F238E27FC236}">
                  <a16:creationId xmlns:a16="http://schemas.microsoft.com/office/drawing/2014/main" id="{B0ED274B-403A-81AC-B695-160167FF69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2835" b="44066"/>
            <a:stretch/>
          </p:blipFill>
          <p:spPr>
            <a:xfrm>
              <a:off x="1486610" y="20202581"/>
              <a:ext cx="12912612" cy="126551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B0313A-CCB5-5CB7-B1EE-6FEFDD9BAB7D}"/>
                </a:ext>
              </a:extLst>
            </p:cNvPr>
            <p:cNvSpPr txBox="1"/>
            <p:nvPr/>
          </p:nvSpPr>
          <p:spPr>
            <a:xfrm>
              <a:off x="1841788" y="21416520"/>
              <a:ext cx="9169740" cy="51343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000" i="1">
                  <a:latin typeface="Avenir Book"/>
                </a:rPr>
                <a:t>Original image samples of each digit from dataset.</a:t>
              </a:r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F716726-D7DC-D4FB-60E4-72258BB840D2}"/>
              </a:ext>
            </a:extLst>
          </p:cNvPr>
          <p:cNvSpPr txBox="1"/>
          <p:nvPr/>
        </p:nvSpPr>
        <p:spPr>
          <a:xfrm>
            <a:off x="530299" y="2274838"/>
            <a:ext cx="1112080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Our dataset comes from the USPS.</a:t>
            </a:r>
            <a:r>
              <a:rPr lang="en-US" sz="2200" b="1" baseline="30000">
                <a:latin typeface="Avenir Book"/>
              </a:rPr>
              <a:t>1</a:t>
            </a:r>
            <a:r>
              <a:rPr lang="en-US" sz="2200">
                <a:latin typeface="Avenir Book"/>
              </a:rPr>
              <a:t> The dataset contains 7291 training and 2007 test images in h5 format, represented as 16 by 16 matrices of 8-bit </a:t>
            </a:r>
            <a:r>
              <a:rPr lang="en-US" sz="2200">
                <a:latin typeface="Avenir Book" panose="02000503020000020003" pitchFamily="2" charset="0"/>
                <a:ea typeface="+mn-lt"/>
                <a:cs typeface="+mn-lt"/>
              </a:rPr>
              <a:t>(0-255) </a:t>
            </a:r>
            <a:r>
              <a:rPr lang="en-US" sz="2200">
                <a:latin typeface="Avenir Book"/>
              </a:rPr>
              <a:t>grayscale values.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Avenir 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Our training set represents approximately 80 percent of the data, and the testing set is around 20 percent.</a:t>
            </a:r>
          </a:p>
        </p:txBody>
      </p:sp>
    </p:spTree>
    <p:extLst>
      <p:ext uri="{BB962C8B-B14F-4D97-AF65-F5344CB8AC3E}">
        <p14:creationId xmlns:p14="http://schemas.microsoft.com/office/powerpoint/2010/main" val="375386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F716726-D7DC-D4FB-60E4-72258BB840D2}"/>
              </a:ext>
            </a:extLst>
          </p:cNvPr>
          <p:cNvSpPr txBox="1"/>
          <p:nvPr/>
        </p:nvSpPr>
        <p:spPr>
          <a:xfrm>
            <a:off x="530299" y="2274838"/>
            <a:ext cx="111208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Avenir Boo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359412-CBFF-C6B3-8B77-2F5DF0E4BD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28"/>
          <a:stretch/>
        </p:blipFill>
        <p:spPr>
          <a:xfrm>
            <a:off x="1411975" y="1084029"/>
            <a:ext cx="4919470" cy="47065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7DC667-FBC9-44A4-1FE6-EBC8BEA61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11"/>
          <a:stretch/>
        </p:blipFill>
        <p:spPr>
          <a:xfrm>
            <a:off x="6324602" y="1057272"/>
            <a:ext cx="4953815" cy="46956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5F50D5-130A-6B78-484F-B3EB3DEE0CD0}"/>
              </a:ext>
            </a:extLst>
          </p:cNvPr>
          <p:cNvSpPr txBox="1"/>
          <p:nvPr/>
        </p:nvSpPr>
        <p:spPr>
          <a:xfrm>
            <a:off x="2405146" y="5817324"/>
            <a:ext cx="7381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>
                <a:latin typeface="Avenir Book" panose="02000503020000020003" pitchFamily="2" charset="0"/>
              </a:rPr>
              <a:t>Digit distribution for training and testing dataset,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214667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B610-EACB-B833-7D02-3F66A7CE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Splitting the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16726-D7DC-D4FB-60E4-72258BB840D2}"/>
              </a:ext>
            </a:extLst>
          </p:cNvPr>
          <p:cNvSpPr txBox="1"/>
          <p:nvPr/>
        </p:nvSpPr>
        <p:spPr>
          <a:xfrm>
            <a:off x="530299" y="2274838"/>
            <a:ext cx="11120806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We used a Python dictionary to store all matrixes for each digit in the form (digit, matrices).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Avenir 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The 16x16 matrices were flattened into 256x1.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Avenir 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All the matrices associated with each digit were stacked together in the dictionary.</a:t>
            </a:r>
          </a:p>
          <a:p>
            <a:endParaRPr lang="en-US" sz="2200">
              <a:latin typeface="Avenir 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For example, digit 0, with 1194 samples, has a shape of (1194, 256) in the dictionary.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Avenir Book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132F89-1AEE-EB5F-A9C1-009FEE263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553" y="5438658"/>
            <a:ext cx="8851900" cy="30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64BD28-ED7E-8757-6B59-77F90F9DD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553" y="5919005"/>
            <a:ext cx="88900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04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9074-5C53-C329-A285-7F6BA504D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– Singular Value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5A5D52-EE5D-2225-29DF-EB4D0EB598B4}"/>
                  </a:ext>
                </a:extLst>
              </p:cNvPr>
              <p:cNvSpPr txBox="1"/>
              <p:nvPr/>
            </p:nvSpPr>
            <p:spPr>
              <a:xfrm>
                <a:off x="575894" y="2205533"/>
                <a:ext cx="11243574" cy="3077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200">
                    <a:latin typeface="Avenir Book" panose="02000503020000020003" pitchFamily="2" charset="0"/>
                  </a:rPr>
                  <a:t>Singular Value Decomposition is the factorization of a rectangular matrix into three components:</a:t>
                </a:r>
                <a:endParaRPr lang="en-US" sz="2200" i="1"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l-G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200">
                    <a:latin typeface="Avenir Book" panose="02000503020000020003" pitchFamily="2" charset="0"/>
                  </a:rPr>
                  <a:t> </a:t>
                </a:r>
              </a:p>
              <a:p>
                <a:pPr algn="ctr">
                  <a:spcAft>
                    <a:spcPts val="600"/>
                  </a:spcAft>
                </a:pPr>
                <a:endParaRPr lang="en-US" sz="2200">
                  <a:latin typeface="Avenir Book" panose="02000503020000020003" pitchFamily="2" charset="0"/>
                </a:endParaRPr>
              </a:p>
              <a:p>
                <a:pPr marL="342900" indent="-3429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200">
                    <a:latin typeface="Avenir Book" panose="02000503020000020003" pitchFamily="2" charset="0"/>
                  </a:rPr>
                  <a:t> is a diagonalized matrix containing singular values in descending order of importance. </a:t>
                </a:r>
                <a:endParaRPr lang="en-US" sz="2200" i="1">
                  <a:latin typeface="Cambria Math" panose="02040503050406030204" pitchFamily="18" charset="0"/>
                </a:endParaRPr>
              </a:p>
              <a:p>
                <a:pPr marL="342900" indent="-3429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200">
                    <a:latin typeface="Avenir Book" panose="02000503020000020003" pitchFamily="2" charset="0"/>
                  </a:rPr>
                  <a:t> is an orthogonal matrix composed of the left eigenvectors, while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200">
                    <a:latin typeface="Avenir Book" panose="02000503020000020003" pitchFamily="2" charset="0"/>
                  </a:rPr>
                  <a:t> is an orthogonal matrix composed of the right eigenvectors.</a:t>
                </a:r>
              </a:p>
              <a:p>
                <a:pPr marL="342900" indent="-3429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sz="2200">
                    <a:latin typeface="Avenir Book" panose="02000503020000020003" pitchFamily="2" charset="0"/>
                  </a:rPr>
                  <a:t>The SciPy library was used to perform the SVD calculation.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5A5D52-EE5D-2225-29DF-EB4D0EB59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94" y="2205533"/>
                <a:ext cx="11243574" cy="3077766"/>
              </a:xfrm>
              <a:prstGeom prst="rect">
                <a:avLst/>
              </a:prstGeom>
              <a:blipFill>
                <a:blip r:embed="rId2"/>
                <a:stretch>
                  <a:fillRect l="-677" t="-1230" b="-24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0148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3C15-22A6-FDDE-4C35-E9555CE0C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Rank-12 matrix approximations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CCA92-145A-FE9C-B8B4-368525B21A46}"/>
              </a:ext>
            </a:extLst>
          </p:cNvPr>
          <p:cNvSpPr txBox="1"/>
          <p:nvPr/>
        </p:nvSpPr>
        <p:spPr>
          <a:xfrm>
            <a:off x="575894" y="2315907"/>
            <a:ext cx="1075250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Once organizing the data into different digit sets of stacked matrices, we performed SVD on each separate 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Avenir 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The rank-12 matrix approximations are below, in which each digit—while vague in precise form—is visible.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2B0308-F980-5868-295B-2E1425101DA6}"/>
              </a:ext>
            </a:extLst>
          </p:cNvPr>
          <p:cNvGrpSpPr/>
          <p:nvPr/>
        </p:nvGrpSpPr>
        <p:grpSpPr>
          <a:xfrm>
            <a:off x="862897" y="4615196"/>
            <a:ext cx="10430209" cy="1355506"/>
            <a:chOff x="1488168" y="23536461"/>
            <a:chExt cx="12955764" cy="1683727"/>
          </a:xfrm>
        </p:grpSpPr>
        <p:pic>
          <p:nvPicPr>
            <p:cNvPr id="6" name="Picture 8" descr="A picture containing table&#10;&#10;Description automatically generated">
              <a:extLst>
                <a:ext uri="{FF2B5EF4-FFF2-40B4-BE49-F238E27FC236}">
                  <a16:creationId xmlns:a16="http://schemas.microsoft.com/office/drawing/2014/main" id="{B9DBD51C-D95A-6CFB-311B-8D7D7DD7CA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2798" b="41939"/>
            <a:stretch/>
          </p:blipFill>
          <p:spPr>
            <a:xfrm>
              <a:off x="1488168" y="23536461"/>
              <a:ext cx="12955764" cy="145243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393DA0C-05A9-0E1F-29FE-24D4C3E69EA4}"/>
                </a:ext>
              </a:extLst>
            </p:cNvPr>
            <p:cNvSpPr txBox="1"/>
            <p:nvPr/>
          </p:nvSpPr>
          <p:spPr>
            <a:xfrm>
              <a:off x="1841787" y="24723196"/>
              <a:ext cx="9789815" cy="496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>
                  <a:latin typeface="Avenir Book" panose="02000503020000020003" pitchFamily="2" charset="0"/>
                </a:rPr>
                <a:t>Rank-12 matrix approximations images for each digit.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978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F716726-D7DC-D4FB-60E4-72258BB840D2}"/>
              </a:ext>
            </a:extLst>
          </p:cNvPr>
          <p:cNvSpPr txBox="1"/>
          <p:nvPr/>
        </p:nvSpPr>
        <p:spPr>
          <a:xfrm>
            <a:off x="530299" y="2274838"/>
            <a:ext cx="111208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Avenir Book"/>
            </a:endParaRPr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22B78110-FDC8-91F9-1CDE-8C65EC6DF1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50"/>
          <a:stretch/>
        </p:blipFill>
        <p:spPr>
          <a:xfrm>
            <a:off x="748746" y="1057276"/>
            <a:ext cx="10683912" cy="4428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720460-FCF4-E9A5-B965-9AEFC959D45C}"/>
              </a:ext>
            </a:extLst>
          </p:cNvPr>
          <p:cNvSpPr txBox="1"/>
          <p:nvPr/>
        </p:nvSpPr>
        <p:spPr>
          <a:xfrm>
            <a:off x="2668079" y="5600669"/>
            <a:ext cx="684524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i="1">
                <a:latin typeface="Avenir Book"/>
              </a:rPr>
              <a:t>Plot of first 20 singular values for each digit, 0 through 9.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99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6685E-4A9E-8863-A29F-5D41D8204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– Selecting approximation Rank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4CA68-2DD8-246C-7F57-9485B3AC12FD}"/>
              </a:ext>
            </a:extLst>
          </p:cNvPr>
          <p:cNvSpPr txBox="1"/>
          <p:nvPr/>
        </p:nvSpPr>
        <p:spPr>
          <a:xfrm>
            <a:off x="575894" y="2274838"/>
            <a:ext cx="10701706" cy="280076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After reviewing the singular value plots, we sought to reduce the dimensionality of our data without sacrificing accuracy. </a:t>
            </a:r>
            <a:endParaRPr lang="en-US" sz="2200">
              <a:latin typeface="Avenir Book" panose="02000503020000020003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latin typeface="Avenir Book" panose="02000503020000020003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Based on the plots, we conjectured that our desired peak accuracy would be within the first 20 approximations. </a:t>
            </a:r>
            <a:endParaRPr lang="en-US" sz="2200">
              <a:latin typeface="Avenir Book" panose="02000503020000020003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latin typeface="Avenir Book" panose="02000503020000020003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We ran a linear least squares classification algorithm from ranks 1-20 to search for our optimal approximation rank.</a:t>
            </a:r>
            <a:endParaRPr lang="en-US" sz="220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467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26A64B-3BCB-44CC-892E-C791C324B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C678-9D2D-A77A-CBD7-0E1916C1A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>
                <a:latin typeface="Avenir Book" panose="02000503020000020003" pitchFamily="2" charset="0"/>
              </a:rPr>
              <a:t>Methods – Linear least Squares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609686-B87B-4662-8633-E76569397230}"/>
                  </a:ext>
                </a:extLst>
              </p:cNvPr>
              <p:cNvSpPr txBox="1"/>
              <p:nvPr/>
            </p:nvSpPr>
            <p:spPr>
              <a:xfrm>
                <a:off x="590958" y="2025952"/>
                <a:ext cx="3409782" cy="403658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 marL="2857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</a:pPr>
                <a:r>
                  <a:rPr lang="en-US">
                    <a:solidFill>
                      <a:schemeClr val="bg1"/>
                    </a:solidFill>
                    <a:latin typeface="Avenir Book" panose="02000503020000020003" pitchFamily="2" charset="0"/>
                  </a:rPr>
                  <a:t>Minimization of classifier</a:t>
                </a:r>
              </a:p>
              <a:p>
                <a:pPr>
                  <a:lnSpc>
                    <a:spcPct val="9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b="0" i="1" u="none" strike="noStrike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0" lang="en-US" b="0" i="1" u="none" strike="noStrike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0" lang="en-US" b="0" i="1" u="none" strike="noStrike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0" lang="en-US" b="0" i="1" u="none" strike="noStrike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kumimoji="0" lang="en-US" b="0" i="1" u="none" strike="noStrike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b="0" i="1" u="none" strike="noStrike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kumimoji="0" lang="en-US" b="0" i="1" u="none" strike="noStrike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b="0" i="1" u="none" strike="noStrike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kumimoji="0" lang="en-US" b="0" i="1" u="none" strike="noStrike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0" lang="en-US" b="0" i="1" u="none" strike="noStrike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b="0" i="1" u="none" strike="noStrike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kumimoji="0" lang="en-US" b="0" i="1" u="none" strike="noStrike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kumimoji="0" lang="en-US" b="0" i="1" u="none" strike="noStrike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0" lang="en-US" b="0" i="1" u="none" strike="noStrike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kumimoji="0" lang="en-US" b="0" i="1" u="none" strike="noStrike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kumimoji="0" lang="en-US" b="0" i="1" u="none" strike="noStrike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</m:e>
                              </m:d>
                              <m:sSub>
                                <m:sSubPr>
                                  <m:ctrlPr>
                                    <a:rPr kumimoji="0" lang="en-US" b="0" i="1" u="none" strike="noStrike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b="0" i="1" u="none" strike="noStrike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kumimoji="0" lang="en-US" b="0" i="1" u="none" strike="noStrike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b="0" i="1" u="none" strike="noStrike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bg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b="0" i="1" u="none" strike="noStrike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b="0" i="1" u="none" strike="noStrike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kumimoji="0" lang="en-US" b="0" i="1" u="none" strike="noStrike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bg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  <a:p>
                <a:pPr>
                  <a:lnSpc>
                    <a:spcPct val="9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</a:pPr>
                <a:r>
                  <a:rPr lang="en-US">
                    <a:solidFill>
                      <a:schemeClr val="bg1"/>
                    </a:solidFill>
                    <a:latin typeface="Avenir Book" panose="02000503020000020003" pitchFamily="2" charset="0"/>
                  </a:rPr>
                  <a:t>    across all 10 digits (k = 0 – 9)</a:t>
                </a:r>
              </a:p>
              <a:p>
                <a:pPr>
                  <a:lnSpc>
                    <a:spcPct val="9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</a:pPr>
                <a:endParaRPr lang="en-US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  <a:p>
                <a:pPr marL="2857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</a:pPr>
                <a:r>
                  <a:rPr lang="en-US">
                    <a:solidFill>
                      <a:schemeClr val="bg1"/>
                    </a:solidFill>
                    <a:latin typeface="Avenir Book" panose="02000503020000020003" pitchFamily="2" charset="0"/>
                  </a:rPr>
                  <a:t>Predictions for all images in the test set were compared to their true y-values</a:t>
                </a:r>
              </a:p>
              <a:p>
                <a:pPr>
                  <a:lnSpc>
                    <a:spcPct val="9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</a:pPr>
                <a:endParaRPr lang="en-US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  <a:p>
                <a:pPr marL="285750" indent="-285750">
                  <a:lnSpc>
                    <a:spcPct val="9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</a:pPr>
                <a:r>
                  <a:rPr lang="en-US">
                    <a:solidFill>
                      <a:schemeClr val="bg1"/>
                    </a:solidFill>
                    <a:latin typeface="Avenir Book" panose="02000503020000020003" pitchFamily="2" charset="0"/>
                  </a:rPr>
                  <a:t>Highest accuracy percentage at rank-12 approximations of matrices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9609686-B87B-4662-8633-E76569397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58" y="2025952"/>
                <a:ext cx="3409782" cy="4036582"/>
              </a:xfrm>
              <a:prstGeom prst="rect">
                <a:avLst/>
              </a:prstGeom>
              <a:blipFill>
                <a:blip r:embed="rId3"/>
                <a:stretch>
                  <a:fillRect l="-372" r="-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67">
            <a:extLst>
              <a:ext uri="{FF2B5EF4-FFF2-40B4-BE49-F238E27FC236}">
                <a16:creationId xmlns:a16="http://schemas.microsoft.com/office/drawing/2014/main" id="{F557132B-633A-4291-ABE5-54B27DC2F765}"/>
              </a:ext>
            </a:extLst>
          </p:cNvPr>
          <p:cNvGrpSpPr/>
          <p:nvPr/>
        </p:nvGrpSpPr>
        <p:grpSpPr>
          <a:xfrm>
            <a:off x="4791522" y="1374664"/>
            <a:ext cx="6489819" cy="4129274"/>
            <a:chOff x="17363481" y="21360995"/>
            <a:chExt cx="8429542" cy="560644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24D744F-C868-4130-8D2E-F82560AFCB88}"/>
                </a:ext>
              </a:extLst>
            </p:cNvPr>
            <p:cNvSpPr txBox="1"/>
            <p:nvPr/>
          </p:nvSpPr>
          <p:spPr>
            <a:xfrm>
              <a:off x="18146464" y="26178509"/>
              <a:ext cx="7433236" cy="78893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norm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i="1">
                  <a:latin typeface="Avenir Book"/>
                </a:rPr>
                <a:t>Plot comparing the classification accuracy percentage to the rank of the singular value approximations.</a:t>
              </a:r>
              <a:endParaRPr lang="en-US" sz="1600"/>
            </a:p>
          </p:txBody>
        </p:sp>
        <p:pic>
          <p:nvPicPr>
            <p:cNvPr id="5" name="Picture 12" descr="Chart, line chart&#10;&#10;Description automatically generated">
              <a:extLst>
                <a:ext uri="{FF2B5EF4-FFF2-40B4-BE49-F238E27FC236}">
                  <a16:creationId xmlns:a16="http://schemas.microsoft.com/office/drawing/2014/main" id="{1D6B66BA-210E-4B64-85CD-A564B04DEC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150" r="7386"/>
            <a:stretch/>
          </p:blipFill>
          <p:spPr>
            <a:xfrm>
              <a:off x="17363481" y="21360995"/>
              <a:ext cx="8429542" cy="48175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843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Rectangle 78">
            <a:extLst>
              <a:ext uri="{FF2B5EF4-FFF2-40B4-BE49-F238E27FC236}">
                <a16:creationId xmlns:a16="http://schemas.microsoft.com/office/drawing/2014/main" id="{0EAA425D-6501-4EB3-8D63-CF89C9412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86" name="Rectangle 80">
            <a:extLst>
              <a:ext uri="{FF2B5EF4-FFF2-40B4-BE49-F238E27FC236}">
                <a16:creationId xmlns:a16="http://schemas.microsoft.com/office/drawing/2014/main" id="{96D69A94-D183-49E0-B81C-09B31CEBC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87" name="Rectangle 82">
            <a:extLst>
              <a:ext uri="{FF2B5EF4-FFF2-40B4-BE49-F238E27FC236}">
                <a16:creationId xmlns:a16="http://schemas.microsoft.com/office/drawing/2014/main" id="{1C2A700A-2259-465D-AAD8-28740D011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88" name="Rectangle 84">
            <a:extLst>
              <a:ext uri="{FF2B5EF4-FFF2-40B4-BE49-F238E27FC236}">
                <a16:creationId xmlns:a16="http://schemas.microsoft.com/office/drawing/2014/main" id="{1AC4C8A6-6415-4026-A624-AC68830E4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289" name="Rectangle 86">
            <a:extLst>
              <a:ext uri="{FF2B5EF4-FFF2-40B4-BE49-F238E27FC236}">
                <a16:creationId xmlns:a16="http://schemas.microsoft.com/office/drawing/2014/main" id="{F8EF27BB-2B46-4E18-8445-67FA3416D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0D813-2299-479A-1A5D-880FD66B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91" y="606345"/>
            <a:ext cx="3427985" cy="9555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  <a:latin typeface="Avenir Book" panose="02000503020000020003" pitchFamily="2" charset="0"/>
              </a:rPr>
              <a:t>Overall Results</a:t>
            </a:r>
          </a:p>
        </p:txBody>
      </p:sp>
      <p:grpSp>
        <p:nvGrpSpPr>
          <p:cNvPr id="1290" name="Group 88">
            <a:extLst>
              <a:ext uri="{FF2B5EF4-FFF2-40B4-BE49-F238E27FC236}">
                <a16:creationId xmlns:a16="http://schemas.microsoft.com/office/drawing/2014/main" id="{60A0C54A-CE24-4C1A-B9B1-5D3EC6E9F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F54BDFC-81D1-4BAD-B69C-102742E3D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91" name="Rectangle 90">
              <a:extLst>
                <a:ext uri="{FF2B5EF4-FFF2-40B4-BE49-F238E27FC236}">
                  <a16:creationId xmlns:a16="http://schemas.microsoft.com/office/drawing/2014/main" id="{E15D1583-F67B-4A0C-9491-B90EF2FC3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A65BAB3-9981-44D7-BA75-F48959D8B9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10C3EB2-72EB-3B8F-F665-77134F66B1C5}"/>
              </a:ext>
            </a:extLst>
          </p:cNvPr>
          <p:cNvSpPr txBox="1"/>
          <p:nvPr/>
        </p:nvSpPr>
        <p:spPr>
          <a:xfrm>
            <a:off x="584201" y="1458097"/>
            <a:ext cx="3565653" cy="49389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400">
                <a:latin typeface="Avenir Book" panose="02000503020000020003" pitchFamily="2" charset="0"/>
              </a:rPr>
              <a:t>Technologies and packages used: Python using the Anaconda distribution, SciPy, Scikit-Learn, NumPy, h5py, matplotlib.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400">
                <a:latin typeface="Avenir Book" panose="02000503020000020003" pitchFamily="2" charset="0"/>
              </a:rPr>
              <a:t>We applied the classification model, Linear Least Squares, to achieve an accuracy of 94.52% on the prediction of digit values from the testing dataset. Thus, out of 2007 test values, 1,897 were classified correctly.</a:t>
            </a:r>
          </a:p>
        </p:txBody>
      </p:sp>
      <p:sp>
        <p:nvSpPr>
          <p:cNvPr id="1292" name="Rectangle 93">
            <a:extLst>
              <a:ext uri="{FF2B5EF4-FFF2-40B4-BE49-F238E27FC236}">
                <a16:creationId xmlns:a16="http://schemas.microsoft.com/office/drawing/2014/main" id="{2EB7A6B3-7769-4087-8DE5-97E11C081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5707" y="638174"/>
            <a:ext cx="3680469" cy="2828423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NumPy - Wikipedia">
            <a:extLst>
              <a:ext uri="{FF2B5EF4-FFF2-40B4-BE49-F238E27FC236}">
                <a16:creationId xmlns:a16="http://schemas.microsoft.com/office/drawing/2014/main" id="{2A20A551-69A4-BD20-1C33-4A881EB1A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3330" y="1364255"/>
            <a:ext cx="3033894" cy="136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3" name="Rectangle 95">
            <a:extLst>
              <a:ext uri="{FF2B5EF4-FFF2-40B4-BE49-F238E27FC236}">
                <a16:creationId xmlns:a16="http://schemas.microsoft.com/office/drawing/2014/main" id="{98F57262-78F1-4529-AF0A-A2D4ADD37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50180" y="638174"/>
            <a:ext cx="3680469" cy="2828423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" name="Picture 10" descr="scikit-learn - Wikipedia">
            <a:extLst>
              <a:ext uri="{FF2B5EF4-FFF2-40B4-BE49-F238E27FC236}">
                <a16:creationId xmlns:a16="http://schemas.microsoft.com/office/drawing/2014/main" id="{F5BA147C-0818-A82A-8F3B-DEF61EC2F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71913" y="1240331"/>
            <a:ext cx="3023620" cy="162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4" name="Rectangle 97">
            <a:extLst>
              <a:ext uri="{FF2B5EF4-FFF2-40B4-BE49-F238E27FC236}">
                <a16:creationId xmlns:a16="http://schemas.microsoft.com/office/drawing/2014/main" id="{F49AA311-3762-4DBD-9D98-C123C2106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598" y="3568647"/>
            <a:ext cx="3684578" cy="2828423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909B7A-8C9C-5ED3-3E0A-C40CC3BF0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330" y="4612024"/>
            <a:ext cx="3033894" cy="728134"/>
          </a:xfrm>
          <a:prstGeom prst="rect">
            <a:avLst/>
          </a:prstGeom>
        </p:spPr>
      </p:pic>
      <p:sp>
        <p:nvSpPr>
          <p:cNvPr id="1295" name="Rectangle 99">
            <a:extLst>
              <a:ext uri="{FF2B5EF4-FFF2-40B4-BE49-F238E27FC236}">
                <a16:creationId xmlns:a16="http://schemas.microsoft.com/office/drawing/2014/main" id="{AA7A6642-3BD6-476E-B2D1-4AF4D8CB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50180" y="3568647"/>
            <a:ext cx="3680469" cy="2828423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B78AA-D91A-A0A3-9950-FE992DDE5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1053" y="3900089"/>
            <a:ext cx="2175247" cy="21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90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449B-0F7B-011C-E0FE-7FB70981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Individual Digit Accuracy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FAF2A-9C3C-5E4C-3307-8E854BB233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2" b="2075"/>
          <a:stretch/>
        </p:blipFill>
        <p:spPr>
          <a:xfrm>
            <a:off x="7078133" y="2080280"/>
            <a:ext cx="4594955" cy="4269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11A315-E61E-497B-5B71-7B5C3E659BD1}"/>
              </a:ext>
            </a:extLst>
          </p:cNvPr>
          <p:cNvSpPr txBox="1"/>
          <p:nvPr/>
        </p:nvSpPr>
        <p:spPr>
          <a:xfrm>
            <a:off x="662960" y="2182505"/>
            <a:ext cx="6096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The individual success rate of each digit differs in accordance with the complexity of the digit, along with the cleanliness of the rank-12 matrix approximations.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An accuracy of 86.70% for digit 3 was the lowest.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Digit 0, while having the largest population in the dataset, also performed the best with an accuracy of 98.60%.</a:t>
            </a:r>
          </a:p>
        </p:txBody>
      </p:sp>
    </p:spTree>
    <p:extLst>
      <p:ext uri="{BB962C8B-B14F-4D97-AF65-F5344CB8AC3E}">
        <p14:creationId xmlns:p14="http://schemas.microsoft.com/office/powerpoint/2010/main" val="2198053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3E96-D84A-B40B-E246-C6D3439D7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EF742-A1B7-696D-769B-C75B7E01DC34}"/>
              </a:ext>
            </a:extLst>
          </p:cNvPr>
          <p:cNvSpPr txBox="1"/>
          <p:nvPr/>
        </p:nvSpPr>
        <p:spPr>
          <a:xfrm>
            <a:off x="575894" y="2117812"/>
            <a:ext cx="1132046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There were a total of the 110 misclassified digits when using the rank-12 matrix approximation.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Many of the misclassifications were a result of misplacement and skewedness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Digits 3, 5, and 8 were often misclassified as the 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Digits 1 and 7 were often misclassified as the 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Digits with pronounced loops were often misclassified as Digit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Digits with pronounced lines were often misclassified as Digit 1.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7ADA73-2B80-9FC7-19FC-2A1430D1457C}"/>
              </a:ext>
            </a:extLst>
          </p:cNvPr>
          <p:cNvGrpSpPr/>
          <p:nvPr/>
        </p:nvGrpSpPr>
        <p:grpSpPr>
          <a:xfrm>
            <a:off x="868008" y="4676628"/>
            <a:ext cx="10625486" cy="1871203"/>
            <a:chOff x="30084165" y="15744117"/>
            <a:chExt cx="6153704" cy="100832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4923C0D-EF7D-71B1-C2EB-D8AC05AB8E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1032" t="78248" r="40139" b="3251"/>
            <a:stretch/>
          </p:blipFill>
          <p:spPr>
            <a:xfrm>
              <a:off x="35659339" y="15843132"/>
              <a:ext cx="578530" cy="90930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44AFE90-9023-FBB6-0DB6-FA032A120A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0404" r="11273" b="80236"/>
            <a:stretch/>
          </p:blipFill>
          <p:spPr>
            <a:xfrm>
              <a:off x="32542823" y="15744117"/>
              <a:ext cx="545387" cy="97138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940403C-D625-B132-2CB8-22302072CB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216" t="57847" r="79463" b="22932"/>
            <a:stretch/>
          </p:blipFill>
          <p:spPr>
            <a:xfrm>
              <a:off x="33791250" y="15778367"/>
              <a:ext cx="545387" cy="94468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F5CA731-0459-71BB-7AE5-81C6CEF1C7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0723" t="20236" r="20746" b="60981"/>
            <a:stretch/>
          </p:blipFill>
          <p:spPr>
            <a:xfrm>
              <a:off x="30084165" y="15789803"/>
              <a:ext cx="558973" cy="92316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2B50DB9-DC41-09EE-59F5-1E9D5C516F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690" t="20203" r="59987" b="62122"/>
            <a:stretch/>
          </p:blipFill>
          <p:spPr>
            <a:xfrm>
              <a:off x="34427028" y="15805496"/>
              <a:ext cx="545387" cy="86872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23F3B02-2CBB-C28F-50E2-70DBC244D0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0788" t="79683" r="49862" b="5240"/>
            <a:stretch/>
          </p:blipFill>
          <p:spPr>
            <a:xfrm>
              <a:off x="30659805" y="15895985"/>
              <a:ext cx="612742" cy="741018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8AE8CFF-7AC4-AA24-0F68-C7FB07EE02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286" t="2600" r="59670" b="80228"/>
            <a:stretch/>
          </p:blipFill>
          <p:spPr>
            <a:xfrm>
              <a:off x="33137416" y="15874584"/>
              <a:ext cx="592667" cy="84402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029E210-A40D-2DE5-3D90-FF25C3C59C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563" t="60071" r="60116" b="22713"/>
            <a:stretch/>
          </p:blipFill>
          <p:spPr>
            <a:xfrm>
              <a:off x="31313015" y="15872317"/>
              <a:ext cx="545387" cy="846122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9DF4AAC-33EF-11FA-DA72-785C01AEC0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1645" t="78233" r="79182" b="4877"/>
            <a:stretch/>
          </p:blipFill>
          <p:spPr>
            <a:xfrm>
              <a:off x="31901007" y="15826519"/>
              <a:ext cx="601134" cy="830109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E286EA8-629D-7FFC-E1F9-305F95B240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0078" t="40918" r="11094" b="43096"/>
            <a:stretch/>
          </p:blipFill>
          <p:spPr>
            <a:xfrm>
              <a:off x="35020151" y="15883642"/>
              <a:ext cx="578530" cy="7857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0990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BDD74-3537-0AF2-DDBC-80526B30E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E80C0-2C22-4C25-E70B-C704DBC75763}"/>
              </a:ext>
            </a:extLst>
          </p:cNvPr>
          <p:cNvSpPr txBox="1"/>
          <p:nvPr/>
        </p:nvSpPr>
        <p:spPr>
          <a:xfrm>
            <a:off x="575894" y="2369041"/>
            <a:ext cx="1102961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SVD and Linear Least Squares were able to successfully predict handwritten digits with a high accuracy (&gt;94%).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Avenir 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Ultimately, the model can be used in a variety of applications, such as quickly interpreting postal codes and addresses on mail and packages.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Avenir 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In general, machine learning algorithms such as ours can be used to recognize any handwritten digits, like financial documents, mathematical writing,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Avenir 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Additionally, the model can be augmented to learn not only digits, but also the modern Latin alphabet, or any language’s alphabet.</a:t>
            </a:r>
          </a:p>
        </p:txBody>
      </p:sp>
    </p:spTree>
    <p:extLst>
      <p:ext uri="{BB962C8B-B14F-4D97-AF65-F5344CB8AC3E}">
        <p14:creationId xmlns:p14="http://schemas.microsoft.com/office/powerpoint/2010/main" val="492093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A9E2-4A95-6D3B-0B20-FA68D23F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713D9-B8A0-E5AC-46CC-DFDFEAEDC738}"/>
              </a:ext>
            </a:extLst>
          </p:cNvPr>
          <p:cNvSpPr txBox="1"/>
          <p:nvPr/>
        </p:nvSpPr>
        <p:spPr>
          <a:xfrm>
            <a:off x="575895" y="2284281"/>
            <a:ext cx="10701706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Learning the applications and usefulness of SVD and its ability to perform dimensionality reductions.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>
              <a:latin typeface="Avenir 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>
                <a:latin typeface="Avenir Book"/>
              </a:rPr>
              <a:t>Gathering everyday with some great people and having lots of laughs.</a:t>
            </a:r>
          </a:p>
        </p:txBody>
      </p:sp>
    </p:spTree>
    <p:extLst>
      <p:ext uri="{BB962C8B-B14F-4D97-AF65-F5344CB8AC3E}">
        <p14:creationId xmlns:p14="http://schemas.microsoft.com/office/powerpoint/2010/main" val="2056229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F243-5C45-3723-3504-CCAAE3D96F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/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79C1A4-F944-21A3-2826-07C1087AA3EC}"/>
              </a:ext>
            </a:extLst>
          </p:cNvPr>
          <p:cNvSpPr txBox="1"/>
          <p:nvPr/>
        </p:nvSpPr>
        <p:spPr>
          <a:xfrm>
            <a:off x="1603274" y="3529245"/>
            <a:ext cx="8949381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  <a:latin typeface="Avenir Book"/>
              </a:rPr>
              <a:t>We would like to extend our gratitude to Frederic </a:t>
            </a:r>
            <a:r>
              <a:rPr lang="en-US" sz="4800" err="1">
                <a:solidFill>
                  <a:schemeClr val="bg1"/>
                </a:solidFill>
                <a:latin typeface="Avenir Book"/>
              </a:rPr>
              <a:t>Marazzato</a:t>
            </a:r>
            <a:r>
              <a:rPr lang="en-US" sz="4800">
                <a:solidFill>
                  <a:schemeClr val="bg1"/>
                </a:solidFill>
                <a:latin typeface="Avenir Book"/>
              </a:rPr>
              <a:t> for his guidance and assistance.</a:t>
            </a:r>
          </a:p>
        </p:txBody>
      </p:sp>
    </p:spTree>
    <p:extLst>
      <p:ext uri="{BB962C8B-B14F-4D97-AF65-F5344CB8AC3E}">
        <p14:creationId xmlns:p14="http://schemas.microsoft.com/office/powerpoint/2010/main" val="263580743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Custom 4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70A1C0"/>
      </a:accent1>
      <a:accent2>
        <a:srgbClr val="3E6385"/>
      </a:accent2>
      <a:accent3>
        <a:srgbClr val="297FD5"/>
      </a:accent3>
      <a:accent4>
        <a:srgbClr val="2B313A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{D4E298D9-8D6F-F440-A3A3-B6D33B2C33BD}tf10001123</Template>
  <TotalTime>0</TotalTime>
  <Words>888</Words>
  <Application>Microsoft Macintosh PowerPoint</Application>
  <PresentationFormat>Widescreen</PresentationFormat>
  <Paragraphs>78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Avenir Book</vt:lpstr>
      <vt:lpstr>Calibri</vt:lpstr>
      <vt:lpstr>Cambria Math</vt:lpstr>
      <vt:lpstr>Gill Sans MT</vt:lpstr>
      <vt:lpstr>Wingdings 2</vt:lpstr>
      <vt:lpstr>Dividend</vt:lpstr>
      <vt:lpstr>Machine Learning: Handwritten Digit Recognition using Singular Value Decomposition</vt:lpstr>
      <vt:lpstr>Objective</vt:lpstr>
      <vt:lpstr>Data Set</vt:lpstr>
      <vt:lpstr>PowerPoint Presentation</vt:lpstr>
      <vt:lpstr>Splitting the data</vt:lpstr>
      <vt:lpstr>Methods – Singular Value Decomposition</vt:lpstr>
      <vt:lpstr>Rank-12 matrix approximations</vt:lpstr>
      <vt:lpstr>PowerPoint Presentation</vt:lpstr>
      <vt:lpstr>Methods – Selecting approximation Rank</vt:lpstr>
      <vt:lpstr>Methods – Linear least Squares</vt:lpstr>
      <vt:lpstr>Overall Results</vt:lpstr>
      <vt:lpstr>Individual Digit Accuracy</vt:lpstr>
      <vt:lpstr>Error Analysis</vt:lpstr>
      <vt:lpstr>Conclusion</vt:lpstr>
      <vt:lpstr>Takeaways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Learning: Handwritten Digit Recognition using Singular Value Decomposition</dc:title>
  <dc:creator>Mollee M Swift</dc:creator>
  <cp:lastModifiedBy>Justin Nichols</cp:lastModifiedBy>
  <cp:revision>1</cp:revision>
  <dcterms:created xsi:type="dcterms:W3CDTF">2022-04-26T18:48:20Z</dcterms:created>
  <dcterms:modified xsi:type="dcterms:W3CDTF">2022-04-28T20:08:47Z</dcterms:modified>
</cp:coreProperties>
</file>